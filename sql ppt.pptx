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DM Sans" pitchFamily="2" charset="0"/>
      <p:regular r:id="rId8"/>
    </p:embeddedFont>
    <p:embeddedFont>
      <p:font typeface="DM Sans Bold" panose="020B0604020202020204" charset="0"/>
      <p:regular r:id="rId9"/>
    </p:embeddedFont>
    <p:embeddedFont>
      <p:font typeface="Georgia Pro" panose="02040502050405020303" pitchFamily="18" charset="0"/>
      <p:regular r:id="rId10"/>
    </p:embeddedFont>
    <p:embeddedFont>
      <p:font typeface="Georgia Pro Light" panose="02040302050405020303" pitchFamily="18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E1DD07-EB51-4C83-8AB3-CCFD94A93262}" v="18" dt="2026-01-20T05:03:55.4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jana H S" userId="84a4f05ccbcb6885" providerId="LiveId" clId="{57FB808B-DE5D-4667-9CC0-54B4B6DEE7A6}"/>
    <pc:docChg chg="custSel modSld">
      <pc:chgData name="Anjana H S" userId="84a4f05ccbcb6885" providerId="LiveId" clId="{57FB808B-DE5D-4667-9CC0-54B4B6DEE7A6}" dt="2026-01-20T05:03:55.421" v="29"/>
      <pc:docMkLst>
        <pc:docMk/>
      </pc:docMkLst>
      <pc:sldChg chg="addSp delSp modSp mod modTransition">
        <pc:chgData name="Anjana H S" userId="84a4f05ccbcb6885" providerId="LiveId" clId="{57FB808B-DE5D-4667-9CC0-54B4B6DEE7A6}" dt="2026-01-20T05:03:32.512" v="26"/>
        <pc:sldMkLst>
          <pc:docMk/>
          <pc:sldMk cId="0" sldId="256"/>
        </pc:sldMkLst>
        <pc:picChg chg="add mod">
          <ac:chgData name="Anjana H S" userId="84a4f05ccbcb6885" providerId="LiveId" clId="{57FB808B-DE5D-4667-9CC0-54B4B6DEE7A6}" dt="2026-01-15T07:32:49.570" v="3"/>
          <ac:picMkLst>
            <pc:docMk/>
            <pc:sldMk cId="0" sldId="256"/>
            <ac:picMk id="14" creationId="{23BB21CD-9284-DC72-FD8C-3E0582848B1B}"/>
          </ac:picMkLst>
        </pc:picChg>
      </pc:sldChg>
      <pc:sldChg chg="modSp mod modTransition">
        <pc:chgData name="Anjana H S" userId="84a4f05ccbcb6885" providerId="LiveId" clId="{57FB808B-DE5D-4667-9CC0-54B4B6DEE7A6}" dt="2026-01-20T05:03:36.232" v="27"/>
        <pc:sldMkLst>
          <pc:docMk/>
          <pc:sldMk cId="0" sldId="257"/>
        </pc:sldMkLst>
        <pc:spChg chg="mod">
          <ac:chgData name="Anjana H S" userId="84a4f05ccbcb6885" providerId="LiveId" clId="{57FB808B-DE5D-4667-9CC0-54B4B6DEE7A6}" dt="2026-01-15T07:34:55.135" v="13" actId="20577"/>
          <ac:spMkLst>
            <pc:docMk/>
            <pc:sldMk cId="0" sldId="257"/>
            <ac:spMk id="6" creationId="{00000000-0000-0000-0000-000000000000}"/>
          </ac:spMkLst>
        </pc:spChg>
      </pc:sldChg>
      <pc:sldChg chg="modTransition">
        <pc:chgData name="Anjana H S" userId="84a4f05ccbcb6885" providerId="LiveId" clId="{57FB808B-DE5D-4667-9CC0-54B4B6DEE7A6}" dt="2026-01-20T05:03:28.495" v="25"/>
        <pc:sldMkLst>
          <pc:docMk/>
          <pc:sldMk cId="0" sldId="258"/>
        </pc:sldMkLst>
      </pc:sldChg>
      <pc:sldChg chg="modTransition">
        <pc:chgData name="Anjana H S" userId="84a4f05ccbcb6885" providerId="LiveId" clId="{57FB808B-DE5D-4667-9CC0-54B4B6DEE7A6}" dt="2026-01-20T05:03:49.902" v="28"/>
        <pc:sldMkLst>
          <pc:docMk/>
          <pc:sldMk cId="0" sldId="259"/>
        </pc:sldMkLst>
      </pc:sldChg>
      <pc:sldChg chg="modSp mod modTransition">
        <pc:chgData name="Anjana H S" userId="84a4f05ccbcb6885" providerId="LiveId" clId="{57FB808B-DE5D-4667-9CC0-54B4B6DEE7A6}" dt="2026-01-20T05:02:48.295" v="23"/>
        <pc:sldMkLst>
          <pc:docMk/>
          <pc:sldMk cId="0" sldId="260"/>
        </pc:sldMkLst>
        <pc:spChg chg="mod">
          <ac:chgData name="Anjana H S" userId="84a4f05ccbcb6885" providerId="LiveId" clId="{57FB808B-DE5D-4667-9CC0-54B4B6DEE7A6}" dt="2026-01-20T04:55:29.151" v="22" actId="20577"/>
          <ac:spMkLst>
            <pc:docMk/>
            <pc:sldMk cId="0" sldId="260"/>
            <ac:spMk id="4" creationId="{00000000-0000-0000-0000-000000000000}"/>
          </ac:spMkLst>
        </pc:spChg>
      </pc:sldChg>
      <pc:sldChg chg="modTransition">
        <pc:chgData name="Anjana H S" userId="84a4f05ccbcb6885" providerId="LiveId" clId="{57FB808B-DE5D-4667-9CC0-54B4B6DEE7A6}" dt="2026-01-20T05:03:55.421" v="29"/>
        <pc:sldMkLst>
          <pc:docMk/>
          <pc:sldMk cId="0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7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0744200" y="666750"/>
            <a:ext cx="6877050" cy="1032759"/>
            <a:chOff x="0" y="0"/>
            <a:chExt cx="9169400" cy="1377012"/>
          </a:xfrm>
        </p:grpSpPr>
        <p:sp>
          <p:nvSpPr>
            <p:cNvPr id="5" name="Freeform 5"/>
            <p:cNvSpPr/>
            <p:nvPr/>
          </p:nvSpPr>
          <p:spPr>
            <a:xfrm rot="-5400000" flipH="1">
              <a:off x="36553" y="74861"/>
              <a:ext cx="555143" cy="628248"/>
            </a:xfrm>
            <a:custGeom>
              <a:avLst/>
              <a:gdLst/>
              <a:ahLst/>
              <a:cxnLst/>
              <a:rect l="l" t="t" r="r" b="b"/>
              <a:pathLst>
                <a:path w="555143" h="628248">
                  <a:moveTo>
                    <a:pt x="555143" y="0"/>
                  </a:moveTo>
                  <a:lnTo>
                    <a:pt x="0" y="0"/>
                  </a:lnTo>
                  <a:lnTo>
                    <a:pt x="0" y="628248"/>
                  </a:lnTo>
                  <a:lnTo>
                    <a:pt x="555143" y="628248"/>
                  </a:lnTo>
                  <a:lnTo>
                    <a:pt x="555143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95304" y="95250"/>
              <a:ext cx="8374096" cy="12817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55"/>
                </a:lnSpc>
              </a:pPr>
              <a:r>
                <a:rPr lang="en-US" sz="3864" spc="-77">
                  <a:solidFill>
                    <a:srgbClr val="F8F9FA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Sales Data Analysis</a:t>
              </a:r>
            </a:p>
            <a:p>
              <a:pPr marL="0" lvl="0" indent="0" algn="l">
                <a:lnSpc>
                  <a:spcPts val="3555"/>
                </a:lnSpc>
              </a:pPr>
              <a:r>
                <a:rPr lang="en-US" sz="3864" spc="-77">
                  <a:solidFill>
                    <a:srgbClr val="F8F9FA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                  E-Commerce Store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734675" y="1562100"/>
            <a:ext cx="6886575" cy="2375603"/>
            <a:chOff x="0" y="0"/>
            <a:chExt cx="9182100" cy="3167470"/>
          </a:xfrm>
        </p:grpSpPr>
        <p:sp>
          <p:nvSpPr>
            <p:cNvPr id="8" name="TextBox 8"/>
            <p:cNvSpPr txBox="1"/>
            <p:nvPr/>
          </p:nvSpPr>
          <p:spPr>
            <a:xfrm>
              <a:off x="0" y="200025"/>
              <a:ext cx="9182100" cy="19208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99"/>
                </a:lnSpc>
              </a:pPr>
              <a:r>
                <a:rPr lang="en-US" sz="10499">
                  <a:solidFill>
                    <a:srgbClr val="F8F9FA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SQL Project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371815"/>
              <a:ext cx="9172670" cy="79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039"/>
                </a:lnSpc>
              </a:pPr>
              <a:r>
                <a:rPr lang="en-US" sz="3599">
                  <a:solidFill>
                    <a:srgbClr val="F8F9FA"/>
                  </a:solidFill>
                  <a:latin typeface="DM Sans"/>
                  <a:ea typeface="DM Sans"/>
                  <a:cs typeface="DM Sans"/>
                  <a:sym typeface="DM Sans"/>
                </a:rPr>
                <a:t>Data Analysis and Insights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744200" y="8740903"/>
            <a:ext cx="5743575" cy="888872"/>
            <a:chOff x="0" y="0"/>
            <a:chExt cx="7658100" cy="1185162"/>
          </a:xfrm>
        </p:grpSpPr>
        <p:sp>
          <p:nvSpPr>
            <p:cNvPr id="11" name="TextBox 11"/>
            <p:cNvSpPr txBox="1"/>
            <p:nvPr/>
          </p:nvSpPr>
          <p:spPr>
            <a:xfrm>
              <a:off x="0" y="691344"/>
              <a:ext cx="7658100" cy="4938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D0DFF4"/>
                  </a:solidFill>
                  <a:latin typeface="DM Sans"/>
                  <a:ea typeface="DM Sans"/>
                  <a:cs typeface="DM Sans"/>
                  <a:sym typeface="DM Sans"/>
                </a:rPr>
                <a:t>LIVIN JOBY AND ANJANA HS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76581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F8F9F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PRESENTED BY</a:t>
              </a: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23BB21CD-9284-DC72-FD8C-3E0582848B1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52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66750" y="716756"/>
            <a:ext cx="8324850" cy="8941605"/>
            <a:chOff x="0" y="66675"/>
            <a:chExt cx="11099800" cy="11922140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54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>
                  <a:solidFill>
                    <a:srgbClr val="F8F9FA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Description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047803"/>
              <a:ext cx="11099800" cy="99410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endParaRPr dirty="0"/>
            </a:p>
            <a:p>
              <a:pPr algn="l">
                <a:lnSpc>
                  <a:spcPts val="2940"/>
                </a:lnSpc>
              </a:pPr>
              <a:endParaRPr dirty="0"/>
            </a:p>
            <a:p>
              <a:pPr marL="539748" lvl="1" indent="-269874" algn="l">
                <a:lnSpc>
                  <a:spcPts val="3499"/>
                </a:lnSpc>
                <a:buFont typeface="Arial"/>
                <a:buChar char="•"/>
              </a:pPr>
              <a:r>
                <a:rPr lang="en-US" sz="2499" dirty="0">
                  <a:solidFill>
                    <a:srgbClr val="D0DFF4"/>
                  </a:solidFill>
                  <a:latin typeface="DM Sans"/>
                  <a:ea typeface="DM Sans"/>
                  <a:cs typeface="DM Sans"/>
                  <a:sym typeface="DM Sans"/>
                </a:rPr>
                <a:t>Dataset contains:</a:t>
              </a:r>
            </a:p>
            <a:p>
              <a:pPr algn="l">
                <a:lnSpc>
                  <a:spcPts val="3499"/>
                </a:lnSpc>
              </a:pPr>
              <a:endParaRPr lang="en-US" sz="2499" dirty="0">
                <a:solidFill>
                  <a:srgbClr val="D0DFF4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1079496" lvl="2" indent="-359832" algn="l">
                <a:lnSpc>
                  <a:spcPts val="3499"/>
                </a:lnSpc>
                <a:buFont typeface="Arial"/>
                <a:buChar char="⚬"/>
              </a:pPr>
              <a:r>
                <a:rPr lang="en-US" sz="2499" dirty="0">
                  <a:solidFill>
                    <a:srgbClr val="D0DFF4"/>
                  </a:solidFill>
                  <a:latin typeface="DM Sans"/>
                  <a:ea typeface="DM Sans"/>
                  <a:cs typeface="DM Sans"/>
                  <a:sym typeface="DM Sans"/>
                </a:rPr>
                <a:t>ProductID, ProductName, UnitPrice, Quantity</a:t>
              </a:r>
            </a:p>
            <a:p>
              <a:pPr algn="l">
                <a:lnSpc>
                  <a:spcPts val="3499"/>
                </a:lnSpc>
              </a:pPr>
              <a:endParaRPr lang="en-US" sz="2499" dirty="0">
                <a:solidFill>
                  <a:srgbClr val="D0DFF4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1079496" lvl="2" indent="-359832" algn="l">
                <a:lnSpc>
                  <a:spcPts val="3499"/>
                </a:lnSpc>
                <a:buFont typeface="Arial"/>
                <a:buChar char="⚬"/>
              </a:pPr>
              <a:r>
                <a:rPr lang="en-US" sz="2499" dirty="0">
                  <a:solidFill>
                    <a:srgbClr val="D0DFF4"/>
                  </a:solidFill>
                  <a:latin typeface="DM Sans"/>
                  <a:ea typeface="DM Sans"/>
                  <a:cs typeface="DM Sans"/>
                  <a:sym typeface="DM Sans"/>
                </a:rPr>
                <a:t>CustomerID, CustomerName, Country</a:t>
              </a:r>
            </a:p>
            <a:p>
              <a:pPr algn="l">
                <a:lnSpc>
                  <a:spcPts val="3499"/>
                </a:lnSpc>
              </a:pPr>
              <a:endParaRPr lang="en-US" sz="2499" dirty="0">
                <a:solidFill>
                  <a:srgbClr val="D0DFF4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1079496" lvl="2" indent="-359832" algn="l">
                <a:lnSpc>
                  <a:spcPts val="3499"/>
                </a:lnSpc>
                <a:buFont typeface="Arial"/>
                <a:buChar char="⚬"/>
              </a:pPr>
              <a:r>
                <a:rPr lang="en-US" sz="2499" dirty="0">
                  <a:solidFill>
                    <a:srgbClr val="D0DFF4"/>
                  </a:solidFill>
                  <a:latin typeface="DM Sans"/>
                  <a:ea typeface="DM Sans"/>
                  <a:cs typeface="DM Sans"/>
                  <a:sym typeface="DM Sans"/>
                </a:rPr>
                <a:t>SellerID, PaymentMethod, OrderStatus, Discount, Tax</a:t>
              </a:r>
            </a:p>
            <a:p>
              <a:pPr algn="l">
                <a:lnSpc>
                  <a:spcPts val="3499"/>
                </a:lnSpc>
              </a:pPr>
              <a:endParaRPr lang="en-US" sz="2499" dirty="0">
                <a:solidFill>
                  <a:srgbClr val="D0DFF4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1079496" lvl="2" indent="-359832" algn="l">
                <a:lnSpc>
                  <a:spcPts val="3499"/>
                </a:lnSpc>
                <a:buFont typeface="Arial"/>
                <a:buChar char="⚬"/>
              </a:pPr>
              <a:r>
                <a:rPr lang="en-US" sz="2499" dirty="0">
                  <a:solidFill>
                    <a:srgbClr val="D0DFF4"/>
                  </a:solidFill>
                  <a:latin typeface="DM Sans"/>
                  <a:ea typeface="DM Sans"/>
                  <a:cs typeface="DM Sans"/>
                  <a:sym typeface="DM Sans"/>
                </a:rPr>
                <a:t>OrderDate, ShippingCost, TotalAmount,OrderID</a:t>
              </a:r>
            </a:p>
            <a:p>
              <a:pPr algn="l">
                <a:lnSpc>
                  <a:spcPts val="3499"/>
                </a:lnSpc>
              </a:pPr>
              <a:endParaRPr lang="en-US" sz="2499" dirty="0">
                <a:solidFill>
                  <a:srgbClr val="D0DFF4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539748" lvl="1" indent="-269874" algn="l">
                <a:lnSpc>
                  <a:spcPts val="3499"/>
                </a:lnSpc>
                <a:buFont typeface="Arial"/>
                <a:buChar char="•"/>
              </a:pPr>
              <a:r>
                <a:rPr lang="en-US" sz="2499" dirty="0">
                  <a:solidFill>
                    <a:srgbClr val="D0DFF4"/>
                  </a:solidFill>
                  <a:latin typeface="DM Sans"/>
                  <a:ea typeface="DM Sans"/>
                  <a:cs typeface="DM Sans"/>
                  <a:sym typeface="DM Sans"/>
                </a:rPr>
                <a:t>Timeframe: multiple years of sales data</a:t>
              </a:r>
            </a:p>
            <a:p>
              <a:pPr algn="l">
                <a:lnSpc>
                  <a:spcPts val="3499"/>
                </a:lnSpc>
              </a:pPr>
              <a:endParaRPr lang="en-US" sz="2499" dirty="0">
                <a:solidFill>
                  <a:srgbClr val="D0DFF4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539748" lvl="1" indent="-269874" algn="l">
                <a:lnSpc>
                  <a:spcPts val="3499"/>
                </a:lnSpc>
                <a:buFont typeface="Arial"/>
                <a:buChar char="•"/>
              </a:pPr>
              <a:r>
                <a:rPr lang="en-US" sz="2499" dirty="0">
                  <a:solidFill>
                    <a:srgbClr val="D0DFF4"/>
                  </a:solidFill>
                  <a:latin typeface="DM Sans"/>
                  <a:ea typeface="DM Sans"/>
                  <a:cs typeface="DM Sans"/>
                  <a:sym typeface="DM Sans"/>
                </a:rPr>
                <a:t>Covers delivered, cancelled, returned, and pending orders</a:t>
              </a:r>
            </a:p>
          </p:txBody>
        </p:sp>
      </p:grpSp>
    </p:spTree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F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1028700"/>
            <a:ext cx="10067925" cy="8184515"/>
            <a:chOff x="0" y="0"/>
            <a:chExt cx="13423900" cy="10912687"/>
          </a:xfrm>
        </p:grpSpPr>
        <p:sp>
          <p:nvSpPr>
            <p:cNvPr id="3" name="TextBox 3"/>
            <p:cNvSpPr txBox="1"/>
            <p:nvPr/>
          </p:nvSpPr>
          <p:spPr>
            <a:xfrm>
              <a:off x="0" y="66675"/>
              <a:ext cx="13423900" cy="1554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  <a:spcBef>
                  <a:spcPct val="0"/>
                </a:spcBef>
              </a:pPr>
              <a:r>
                <a:rPr lang="en-US" sz="8000">
                  <a:solidFill>
                    <a:srgbClr val="F8F9FA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Objectives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2395" y="2038350"/>
              <a:ext cx="13401505" cy="88743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59"/>
                </a:lnSpc>
              </a:pPr>
              <a:r>
                <a:rPr lang="en-US" sz="2899">
                  <a:solidFill>
                    <a:srgbClr val="D0DFF4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</a:p>
            <a:p>
              <a:pPr marL="626109" lvl="1" indent="-313054" algn="l">
                <a:lnSpc>
                  <a:spcPts val="4059"/>
                </a:lnSpc>
                <a:buFont typeface="Arial"/>
                <a:buChar char="•"/>
              </a:pPr>
              <a:r>
                <a:rPr lang="en-US" sz="2899">
                  <a:solidFill>
                    <a:srgbClr val="D0DFF4"/>
                  </a:solidFill>
                  <a:latin typeface="DM Sans"/>
                  <a:ea typeface="DM Sans"/>
                  <a:cs typeface="DM Sans"/>
                  <a:sym typeface="DM Sans"/>
                </a:rPr>
                <a:t>Identify high-value products and top-selling products</a:t>
              </a:r>
            </a:p>
            <a:p>
              <a:pPr algn="l">
                <a:lnSpc>
                  <a:spcPts val="4059"/>
                </a:lnSpc>
              </a:pPr>
              <a:endParaRPr lang="en-US" sz="2899">
                <a:solidFill>
                  <a:srgbClr val="D0DFF4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626109" lvl="1" indent="-313054" algn="l">
                <a:lnSpc>
                  <a:spcPts val="4059"/>
                </a:lnSpc>
                <a:buFont typeface="Arial"/>
                <a:buChar char="•"/>
              </a:pPr>
              <a:r>
                <a:rPr lang="en-US" sz="2899">
                  <a:solidFill>
                    <a:srgbClr val="D0DFF4"/>
                  </a:solidFill>
                  <a:latin typeface="DM Sans"/>
                  <a:ea typeface="DM Sans"/>
                  <a:cs typeface="DM Sans"/>
                  <a:sym typeface="DM Sans"/>
                </a:rPr>
                <a:t>Determine top customers and top sellers</a:t>
              </a:r>
            </a:p>
            <a:p>
              <a:pPr algn="l">
                <a:lnSpc>
                  <a:spcPts val="4059"/>
                </a:lnSpc>
              </a:pPr>
              <a:endParaRPr lang="en-US" sz="2899">
                <a:solidFill>
                  <a:srgbClr val="D0DFF4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626109" lvl="1" indent="-313054" algn="l">
                <a:lnSpc>
                  <a:spcPts val="4059"/>
                </a:lnSpc>
                <a:buFont typeface="Arial"/>
                <a:buChar char="•"/>
              </a:pPr>
              <a:r>
                <a:rPr lang="en-US" sz="2899">
                  <a:solidFill>
                    <a:srgbClr val="D0DFF4"/>
                  </a:solidFill>
                  <a:latin typeface="DM Sans"/>
                  <a:ea typeface="DM Sans"/>
                  <a:cs typeface="DM Sans"/>
                  <a:sym typeface="DM Sans"/>
                </a:rPr>
                <a:t>Analyze discounts, taxes, and payment methods</a:t>
              </a:r>
            </a:p>
            <a:p>
              <a:pPr algn="l">
                <a:lnSpc>
                  <a:spcPts val="4059"/>
                </a:lnSpc>
              </a:pPr>
              <a:endParaRPr lang="en-US" sz="2899">
                <a:solidFill>
                  <a:srgbClr val="D0DFF4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626109" lvl="1" indent="-313054" algn="l">
                <a:lnSpc>
                  <a:spcPts val="4059"/>
                </a:lnSpc>
                <a:buFont typeface="Arial"/>
                <a:buChar char="•"/>
              </a:pPr>
              <a:r>
                <a:rPr lang="en-US" sz="2899">
                  <a:solidFill>
                    <a:srgbClr val="D0DFF4"/>
                  </a:solidFill>
                  <a:latin typeface="DM Sans"/>
                  <a:ea typeface="DM Sans"/>
                  <a:cs typeface="DM Sans"/>
                  <a:sym typeface="DM Sans"/>
                </a:rPr>
                <a:t>Detect trends, seasonal patterns, and high-quantity orders</a:t>
              </a:r>
            </a:p>
            <a:p>
              <a:pPr algn="l">
                <a:lnSpc>
                  <a:spcPts val="4059"/>
                </a:lnSpc>
              </a:pPr>
              <a:endParaRPr lang="en-US" sz="2899">
                <a:solidFill>
                  <a:srgbClr val="D0DFF4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626109" lvl="1" indent="-313054" algn="l">
                <a:lnSpc>
                  <a:spcPts val="4059"/>
                </a:lnSpc>
                <a:buFont typeface="Arial"/>
                <a:buChar char="•"/>
              </a:pPr>
              <a:r>
                <a:rPr lang="en-US" sz="2899">
                  <a:solidFill>
                    <a:srgbClr val="D0DFF4"/>
                  </a:solidFill>
                  <a:latin typeface="DM Sans"/>
                  <a:ea typeface="DM Sans"/>
                  <a:cs typeface="DM Sans"/>
                  <a:sym typeface="DM Sans"/>
                </a:rPr>
                <a:t>Highlight returns and cancellations to improve operations</a:t>
              </a:r>
            </a:p>
            <a:p>
              <a:pPr algn="l">
                <a:lnSpc>
                  <a:spcPts val="4059"/>
                </a:lnSpc>
              </a:pPr>
              <a:endParaRPr lang="en-US" sz="2899">
                <a:solidFill>
                  <a:srgbClr val="D0DFF4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824544" y="8838298"/>
            <a:ext cx="796706" cy="811889"/>
            <a:chOff x="0" y="0"/>
            <a:chExt cx="685800" cy="6988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5800" cy="693595"/>
            </a:xfrm>
            <a:custGeom>
              <a:avLst/>
              <a:gdLst/>
              <a:ahLst/>
              <a:cxnLst/>
              <a:rect l="l" t="t" r="r" b="b"/>
              <a:pathLst>
                <a:path w="685800" h="693595">
                  <a:moveTo>
                    <a:pt x="342900" y="0"/>
                  </a:moveTo>
                  <a:lnTo>
                    <a:pt x="434340" y="168784"/>
                  </a:lnTo>
                  <a:lnTo>
                    <a:pt x="618490" y="137137"/>
                  </a:lnTo>
                  <a:lnTo>
                    <a:pt x="547370" y="316469"/>
                  </a:lnTo>
                  <a:lnTo>
                    <a:pt x="685800" y="447013"/>
                  </a:lnTo>
                  <a:lnTo>
                    <a:pt x="506730" y="501076"/>
                  </a:lnTo>
                  <a:lnTo>
                    <a:pt x="495300" y="693595"/>
                  </a:lnTo>
                  <a:lnTo>
                    <a:pt x="342900" y="582831"/>
                  </a:lnTo>
                  <a:lnTo>
                    <a:pt x="190500" y="693595"/>
                  </a:lnTo>
                  <a:lnTo>
                    <a:pt x="179070" y="501076"/>
                  </a:lnTo>
                  <a:lnTo>
                    <a:pt x="0" y="447013"/>
                  </a:lnTo>
                  <a:lnTo>
                    <a:pt x="138430" y="316469"/>
                  </a:lnTo>
                  <a:lnTo>
                    <a:pt x="67310" y="137137"/>
                  </a:lnTo>
                  <a:lnTo>
                    <a:pt x="251460" y="168784"/>
                  </a:lnTo>
                  <a:close/>
                </a:path>
              </a:pathLst>
            </a:custGeom>
            <a:solidFill>
              <a:srgbClr val="F8F9FA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9700" y="123796"/>
              <a:ext cx="406400" cy="456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1D1C24"/>
                  </a:solidFill>
                  <a:latin typeface="DM Sans"/>
                  <a:ea typeface="DM Sans"/>
                  <a:cs typeface="DM Sans"/>
                  <a:sym typeface="DM Sans"/>
                </a:rPr>
                <a:t>3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734675" y="0"/>
            <a:ext cx="7553325" cy="10287000"/>
            <a:chOff x="0" y="0"/>
            <a:chExt cx="1908641" cy="259941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08641" cy="2599410"/>
            </a:xfrm>
            <a:custGeom>
              <a:avLst/>
              <a:gdLst/>
              <a:ahLst/>
              <a:cxnLst/>
              <a:rect l="l" t="t" r="r" b="b"/>
              <a:pathLst>
                <a:path w="1908641" h="2599410">
                  <a:moveTo>
                    <a:pt x="0" y="0"/>
                  </a:moveTo>
                  <a:lnTo>
                    <a:pt x="1908641" y="0"/>
                  </a:lnTo>
                  <a:lnTo>
                    <a:pt x="1908641" y="2599410"/>
                  </a:lnTo>
                  <a:lnTo>
                    <a:pt x="0" y="2599410"/>
                  </a:lnTo>
                  <a:close/>
                </a:path>
              </a:pathLst>
            </a:custGeom>
            <a:blipFill>
              <a:blip r:embed="rId2"/>
              <a:stretch>
                <a:fillRect l="-25688" r="-2568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7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908641" cy="25994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08641" cy="2599410"/>
            </a:xfrm>
            <a:custGeom>
              <a:avLst/>
              <a:gdLst/>
              <a:ahLst/>
              <a:cxnLst/>
              <a:rect l="l" t="t" r="r" b="b"/>
              <a:pathLst>
                <a:path w="1908641" h="2599410">
                  <a:moveTo>
                    <a:pt x="0" y="0"/>
                  </a:moveTo>
                  <a:lnTo>
                    <a:pt x="1908641" y="0"/>
                  </a:lnTo>
                  <a:lnTo>
                    <a:pt x="1908641" y="2599410"/>
                  </a:lnTo>
                  <a:lnTo>
                    <a:pt x="0" y="2599410"/>
                  </a:lnTo>
                  <a:close/>
                </a:path>
              </a:pathLst>
            </a:custGeom>
            <a:blipFill>
              <a:blip r:embed="rId2"/>
              <a:stretch>
                <a:fillRect l="-25688" r="-2568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62496" y="1028700"/>
            <a:ext cx="10308567" cy="7834304"/>
            <a:chOff x="0" y="0"/>
            <a:chExt cx="13744755" cy="10445738"/>
          </a:xfrm>
        </p:grpSpPr>
        <p:sp>
          <p:nvSpPr>
            <p:cNvPr id="5" name="TextBox 5"/>
            <p:cNvSpPr txBox="1"/>
            <p:nvPr/>
          </p:nvSpPr>
          <p:spPr>
            <a:xfrm>
              <a:off x="0" y="1638758"/>
              <a:ext cx="13744755" cy="8513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358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97650"/>
              <a:ext cx="13744755" cy="100480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79366" lvl="1" indent="-289683" algn="l">
                <a:lnSpc>
                  <a:spcPts val="4293"/>
                </a:lnSpc>
                <a:buFont typeface="Arial"/>
                <a:buChar char="•"/>
              </a:pPr>
              <a:r>
                <a:rPr lang="en-US" sz="2683">
                  <a:solidFill>
                    <a:srgbClr val="D0DFF4"/>
                  </a:solidFill>
                  <a:latin typeface="DM Sans"/>
                  <a:ea typeface="DM Sans"/>
                  <a:cs typeface="DM Sans"/>
                  <a:sym typeface="DM Sans"/>
                </a:rPr>
                <a:t>Top Products by Revenue: e.g., ProductIDs with highest TotalAmount</a:t>
              </a:r>
            </a:p>
            <a:p>
              <a:pPr algn="l">
                <a:lnSpc>
                  <a:spcPts val="4293"/>
                </a:lnSpc>
              </a:pPr>
              <a:endParaRPr lang="en-US" sz="2683">
                <a:solidFill>
                  <a:srgbClr val="D0DFF4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579366" lvl="1" indent="-289683" algn="l">
                <a:lnSpc>
                  <a:spcPts val="4293"/>
                </a:lnSpc>
                <a:buFont typeface="Arial"/>
                <a:buChar char="•"/>
              </a:pPr>
              <a:r>
                <a:rPr lang="en-US" sz="2683">
                  <a:solidFill>
                    <a:srgbClr val="D0DFF4"/>
                  </a:solidFill>
                  <a:latin typeface="DM Sans"/>
                  <a:ea typeface="DM Sans"/>
                  <a:cs typeface="DM Sans"/>
                  <a:sym typeface="DM Sans"/>
                </a:rPr>
                <a:t>Top Customers: Top 10 customers by spending (TotalAmount)</a:t>
              </a:r>
            </a:p>
            <a:p>
              <a:pPr algn="l">
                <a:lnSpc>
                  <a:spcPts val="4293"/>
                </a:lnSpc>
              </a:pPr>
              <a:endParaRPr lang="en-US" sz="2683">
                <a:solidFill>
                  <a:srgbClr val="D0DFF4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579366" lvl="1" indent="-289683" algn="l">
                <a:lnSpc>
                  <a:spcPts val="4293"/>
                </a:lnSpc>
                <a:buFont typeface="Arial"/>
                <a:buChar char="•"/>
              </a:pPr>
              <a:r>
                <a:rPr lang="en-US" sz="2683">
                  <a:solidFill>
                    <a:srgbClr val="D0DFF4"/>
                  </a:solidFill>
                  <a:latin typeface="DM Sans"/>
                  <a:ea typeface="DM Sans"/>
                  <a:cs typeface="DM Sans"/>
                  <a:sym typeface="DM Sans"/>
                </a:rPr>
                <a:t>Top Sellers: Highest revenue-generating sellers</a:t>
              </a:r>
            </a:p>
            <a:p>
              <a:pPr algn="l">
                <a:lnSpc>
                  <a:spcPts val="4293"/>
                </a:lnSpc>
              </a:pPr>
              <a:endParaRPr lang="en-US" sz="2683">
                <a:solidFill>
                  <a:srgbClr val="D0DFF4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579366" lvl="1" indent="-289683" algn="l">
                <a:lnSpc>
                  <a:spcPts val="4293"/>
                </a:lnSpc>
                <a:buFont typeface="Arial"/>
                <a:buChar char="•"/>
              </a:pPr>
              <a:r>
                <a:rPr lang="en-US" sz="2683">
                  <a:solidFill>
                    <a:srgbClr val="D0DFF4"/>
                  </a:solidFill>
                  <a:latin typeface="DM Sans"/>
                  <a:ea typeface="DM Sans"/>
                  <a:cs typeface="DM Sans"/>
                  <a:sym typeface="DM Sans"/>
                </a:rPr>
                <a:t>Highest Quantity Products: Products with most units sold</a:t>
              </a:r>
            </a:p>
            <a:p>
              <a:pPr algn="l">
                <a:lnSpc>
                  <a:spcPts val="4293"/>
                </a:lnSpc>
              </a:pPr>
              <a:endParaRPr lang="en-US" sz="2683">
                <a:solidFill>
                  <a:srgbClr val="D0DFF4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579366" lvl="1" indent="-289683" algn="l">
                <a:lnSpc>
                  <a:spcPts val="4293"/>
                </a:lnSpc>
                <a:buFont typeface="Arial"/>
                <a:buChar char="•"/>
              </a:pPr>
              <a:r>
                <a:rPr lang="en-US" sz="2683">
                  <a:solidFill>
                    <a:srgbClr val="D0DFF4"/>
                  </a:solidFill>
                  <a:latin typeface="DM Sans"/>
                  <a:ea typeface="DM Sans"/>
                  <a:cs typeface="DM Sans"/>
                  <a:sym typeface="DM Sans"/>
                </a:rPr>
                <a:t>Most Used Payment Method: e.g., credit card, PayPal, etc.</a:t>
              </a:r>
            </a:p>
            <a:p>
              <a:pPr algn="l">
                <a:lnSpc>
                  <a:spcPts val="4293"/>
                </a:lnSpc>
              </a:pPr>
              <a:endParaRPr lang="en-US" sz="2683">
                <a:solidFill>
                  <a:srgbClr val="D0DFF4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579366" lvl="1" indent="-289683" algn="l">
                <a:lnSpc>
                  <a:spcPts val="4293"/>
                </a:lnSpc>
                <a:buFont typeface="Arial"/>
                <a:buChar char="•"/>
              </a:pPr>
              <a:r>
                <a:rPr lang="en-US" sz="2683">
                  <a:solidFill>
                    <a:srgbClr val="D0DFF4"/>
                  </a:solidFill>
                  <a:latin typeface="DM Sans"/>
                  <a:ea typeface="DM Sans"/>
                  <a:cs typeface="DM Sans"/>
                  <a:sym typeface="DM Sans"/>
                </a:rPr>
                <a:t>Country-wise Sales: Top-performing countries</a:t>
              </a:r>
            </a:p>
            <a:p>
              <a:pPr algn="l">
                <a:lnSpc>
                  <a:spcPts val="4293"/>
                </a:lnSpc>
              </a:pPr>
              <a:endParaRPr lang="en-US" sz="2683">
                <a:solidFill>
                  <a:srgbClr val="D0DFF4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579366" lvl="1" indent="-289683" algn="l">
                <a:lnSpc>
                  <a:spcPts val="4293"/>
                </a:lnSpc>
                <a:buFont typeface="Arial"/>
                <a:buChar char="•"/>
              </a:pPr>
              <a:r>
                <a:rPr lang="en-US" sz="2683">
                  <a:solidFill>
                    <a:srgbClr val="D0DFF4"/>
                  </a:solidFill>
                  <a:latin typeface="DM Sans"/>
                  <a:ea typeface="DM Sans"/>
                  <a:cs typeface="DM Sans"/>
                  <a:sym typeface="DM Sans"/>
                </a:rPr>
                <a:t>Seasonal Sales: Sales by year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09550"/>
              <a:ext cx="13744755" cy="20455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1164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52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7450267" cy="10287000"/>
          </a:xfrm>
          <a:custGeom>
            <a:avLst/>
            <a:gdLst/>
            <a:ahLst/>
            <a:cxnLst/>
            <a:rect l="l" t="t" r="r" b="b"/>
            <a:pathLst>
              <a:path w="7450267" h="10287000">
                <a:moveTo>
                  <a:pt x="0" y="0"/>
                </a:moveTo>
                <a:lnTo>
                  <a:pt x="7450267" y="0"/>
                </a:lnTo>
                <a:lnTo>
                  <a:pt x="745026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4" r="-45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8912258" y="1588856"/>
            <a:ext cx="7124708" cy="8678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3742" lvl="1" indent="-256871" algn="l">
              <a:lnSpc>
                <a:spcPts val="3331"/>
              </a:lnSpc>
              <a:buFont typeface="Arial"/>
              <a:buChar char="•"/>
            </a:pPr>
            <a:r>
              <a:rPr lang="en-US" sz="2379" dirty="0">
                <a:solidFill>
                  <a:srgbClr val="D0DFF4"/>
                </a:solidFill>
                <a:latin typeface="DM Sans"/>
                <a:ea typeface="DM Sans"/>
                <a:cs typeface="DM Sans"/>
                <a:sym typeface="DM Sans"/>
              </a:rPr>
              <a:t> E-commerce sales analysis reveals top-performing products, customers, and sellers driving most revenue.</a:t>
            </a:r>
          </a:p>
          <a:p>
            <a:pPr algn="l">
              <a:lnSpc>
                <a:spcPts val="3331"/>
              </a:lnSpc>
            </a:pPr>
            <a:endParaRPr lang="en-US" sz="2379" dirty="0">
              <a:solidFill>
                <a:srgbClr val="D0DFF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13742" lvl="1" indent="-256871" algn="l">
              <a:lnSpc>
                <a:spcPts val="3331"/>
              </a:lnSpc>
              <a:buFont typeface="Arial"/>
              <a:buChar char="•"/>
            </a:pPr>
            <a:r>
              <a:rPr lang="en-US" sz="2379" dirty="0">
                <a:solidFill>
                  <a:srgbClr val="D0DFF4"/>
                </a:solidFill>
                <a:latin typeface="DM Sans"/>
                <a:ea typeface="DM Sans"/>
                <a:cs typeface="DM Sans"/>
                <a:sym typeface="DM Sans"/>
              </a:rPr>
              <a:t>Payment method and order trends show customer preferences and operational efficiency.</a:t>
            </a:r>
          </a:p>
          <a:p>
            <a:pPr algn="l">
              <a:lnSpc>
                <a:spcPts val="3331"/>
              </a:lnSpc>
            </a:pPr>
            <a:endParaRPr lang="en-US" sz="2379" dirty="0">
              <a:solidFill>
                <a:srgbClr val="D0DFF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13742" lvl="1" indent="-256871" algn="l">
              <a:lnSpc>
                <a:spcPts val="3331"/>
              </a:lnSpc>
              <a:buFont typeface="Arial"/>
              <a:buChar char="•"/>
            </a:pPr>
            <a:r>
              <a:rPr lang="en-US" sz="2379" dirty="0">
                <a:solidFill>
                  <a:srgbClr val="D0DFF4"/>
                </a:solidFill>
                <a:latin typeface="DM Sans"/>
                <a:ea typeface="DM Sans"/>
                <a:cs typeface="DM Sans"/>
                <a:sym typeface="DM Sans"/>
              </a:rPr>
              <a:t> Top sellers and payment methods highlighted</a:t>
            </a:r>
          </a:p>
          <a:p>
            <a:pPr algn="l">
              <a:lnSpc>
                <a:spcPts val="3331"/>
              </a:lnSpc>
            </a:pPr>
            <a:endParaRPr lang="en-US" sz="2379" dirty="0">
              <a:solidFill>
                <a:srgbClr val="D0DFF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13742" lvl="1" indent="-256871" algn="l">
              <a:lnSpc>
                <a:spcPts val="3331"/>
              </a:lnSpc>
              <a:buFont typeface="Arial"/>
              <a:buChar char="•"/>
            </a:pPr>
            <a:r>
              <a:rPr lang="en-US" sz="2379" dirty="0">
                <a:solidFill>
                  <a:srgbClr val="D0DFF4"/>
                </a:solidFill>
                <a:latin typeface="DM Sans"/>
                <a:ea typeface="DM Sans"/>
                <a:cs typeface="DM Sans"/>
                <a:sym typeface="DM Sans"/>
              </a:rPr>
              <a:t> Recommendations:</a:t>
            </a:r>
          </a:p>
          <a:p>
            <a:pPr algn="l">
              <a:lnSpc>
                <a:spcPts val="3331"/>
              </a:lnSpc>
            </a:pPr>
            <a:endParaRPr lang="en-US" sz="2379" dirty="0">
              <a:solidFill>
                <a:srgbClr val="D0DFF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027483" lvl="2" indent="-342494" algn="l">
              <a:lnSpc>
                <a:spcPts val="3331"/>
              </a:lnSpc>
              <a:buFont typeface="Arial"/>
              <a:buChar char="⚬"/>
            </a:pPr>
            <a:r>
              <a:rPr lang="en-US" sz="2379" dirty="0">
                <a:solidFill>
                  <a:srgbClr val="D0DFF4"/>
                </a:solidFill>
                <a:latin typeface="DM Sans"/>
                <a:ea typeface="DM Sans"/>
                <a:cs typeface="DM Sans"/>
                <a:sym typeface="DM Sans"/>
              </a:rPr>
              <a:t>Focus marketing on top products and countries</a:t>
            </a:r>
          </a:p>
          <a:p>
            <a:pPr algn="l">
              <a:lnSpc>
                <a:spcPts val="3331"/>
              </a:lnSpc>
            </a:pPr>
            <a:endParaRPr lang="en-US" sz="2379" dirty="0">
              <a:solidFill>
                <a:srgbClr val="D0DFF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027483" lvl="2" indent="-342494" algn="l">
              <a:lnSpc>
                <a:spcPts val="3331"/>
              </a:lnSpc>
              <a:buFont typeface="Arial"/>
              <a:buChar char="⚬"/>
            </a:pPr>
            <a:r>
              <a:rPr lang="en-US" sz="2379" dirty="0">
                <a:solidFill>
                  <a:srgbClr val="D0DFF4"/>
                </a:solidFill>
                <a:latin typeface="DM Sans"/>
                <a:ea typeface="DM Sans"/>
                <a:cs typeface="DM Sans"/>
                <a:sym typeface="DM Sans"/>
              </a:rPr>
              <a:t>Enhance customer experience to reduce cancellations and returns.</a:t>
            </a:r>
          </a:p>
          <a:p>
            <a:pPr algn="l">
              <a:lnSpc>
                <a:spcPts val="3331"/>
              </a:lnSpc>
            </a:pPr>
            <a:endParaRPr lang="en-US" sz="2379" dirty="0">
              <a:solidFill>
                <a:srgbClr val="D0DFF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027483" lvl="2" indent="-342494" algn="l">
              <a:lnSpc>
                <a:spcPts val="3331"/>
              </a:lnSpc>
              <a:buFont typeface="Arial"/>
              <a:buChar char="⚬"/>
            </a:pPr>
            <a:r>
              <a:rPr lang="en-US" sz="2379" dirty="0">
                <a:solidFill>
                  <a:srgbClr val="D0DFF4"/>
                </a:solidFill>
                <a:latin typeface="DM Sans"/>
                <a:ea typeface="DM Sans"/>
                <a:cs typeface="DM Sans"/>
                <a:sym typeface="DM Sans"/>
              </a:rPr>
              <a:t>Prioritize marketing and stock for high-revenue products.</a:t>
            </a:r>
          </a:p>
          <a:p>
            <a:pPr algn="l">
              <a:lnSpc>
                <a:spcPts val="3331"/>
              </a:lnSpc>
            </a:pPr>
            <a:endParaRPr lang="en-US" sz="2379" dirty="0">
              <a:solidFill>
                <a:srgbClr val="D0DFF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702708" y="47625"/>
            <a:ext cx="5762625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u="none" dirty="0">
                <a:solidFill>
                  <a:srgbClr val="FFFFFF"/>
                </a:solidFill>
                <a:latin typeface="Georgia Pro"/>
                <a:ea typeface="Georgia Pro"/>
                <a:cs typeface="Georgia Pro"/>
                <a:sym typeface="Georgia Pro"/>
              </a:rPr>
              <a:t>FINDINGS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52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236</Words>
  <Application>Microsoft Office PowerPoint</Application>
  <PresentationFormat>Custom</PresentationFormat>
  <Paragraphs>61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DM Sans Bold</vt:lpstr>
      <vt:lpstr>Arial</vt:lpstr>
      <vt:lpstr>Georgia Pro</vt:lpstr>
      <vt:lpstr>Georgia Pro Light</vt:lpstr>
      <vt:lpstr>DM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Data Analysis E-Commerce Store</dc:title>
  <cp:lastModifiedBy>Anjana H S</cp:lastModifiedBy>
  <cp:revision>1</cp:revision>
  <dcterms:created xsi:type="dcterms:W3CDTF">2006-08-16T00:00:00Z</dcterms:created>
  <dcterms:modified xsi:type="dcterms:W3CDTF">2026-01-20T05:03:59Z</dcterms:modified>
  <dc:identifier>DAG-YumXCQo</dc:identifier>
</cp:coreProperties>
</file>