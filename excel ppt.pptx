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ooper BT Light" panose="020B0604020202020204" charset="0"/>
      <p:regular r:id="rId7"/>
    </p:embeddedFont>
    <p:embeddedFont>
      <p:font typeface="Cooper BT Medium" panose="020B0604020202020204" charset="0"/>
      <p:regular r:id="rId8"/>
    </p:embeddedFont>
    <p:embeddedFont>
      <p:font typeface="TT Interphases" panose="020B0604020202020204" charset="0"/>
      <p:regular r:id="rId9"/>
    </p:embeddedFont>
    <p:embeddedFont>
      <p:font typeface="TT Interphase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na H S" userId="84a4f05ccbcb6885" providerId="LiveId" clId="{57FB808B-DE5D-4667-9CC0-54B4B6DEE7A6}"/>
    <pc:docChg chg="modSld sldOrd">
      <pc:chgData name="Anjana H S" userId="84a4f05ccbcb6885" providerId="LiveId" clId="{57FB808B-DE5D-4667-9CC0-54B4B6DEE7A6}" dt="2025-12-19T04:54:00.304" v="1"/>
      <pc:docMkLst>
        <pc:docMk/>
      </pc:docMkLst>
      <pc:sldChg chg="ord">
        <pc:chgData name="Anjana H S" userId="84a4f05ccbcb6885" providerId="LiveId" clId="{57FB808B-DE5D-4667-9CC0-54B4B6DEE7A6}" dt="2025-12-19T04:54:00.304" v="1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A31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831056"/>
            <a:ext cx="8610600" cy="6522244"/>
            <a:chOff x="0" y="219075"/>
            <a:chExt cx="11099800" cy="5899050"/>
          </a:xfrm>
        </p:grpSpPr>
        <p:sp>
          <p:nvSpPr>
            <p:cNvPr id="6" name="TextBox 6"/>
            <p:cNvSpPr txBox="1"/>
            <p:nvPr/>
          </p:nvSpPr>
          <p:spPr>
            <a:xfrm>
              <a:off x="0" y="4737172"/>
              <a:ext cx="11099800" cy="336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endParaRPr lang="en-US" sz="2399" spc="-4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11099800" cy="5899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11499"/>
                </a:lnSpc>
              </a:pPr>
              <a:r>
                <a:rPr lang="en-US" sz="9600" dirty="0">
                  <a:solidFill>
                    <a:schemeClr val="accent6">
                      <a:lumMod val="75000"/>
                    </a:schemeClr>
                  </a:solidFill>
                </a:rPr>
                <a:t>Coffee Shop Sales Analysis Dashboard</a:t>
              </a:r>
              <a:endParaRPr lang="en-US" sz="11499" spc="-229" dirty="0">
                <a:solidFill>
                  <a:schemeClr val="accent6">
                    <a:lumMod val="75000"/>
                  </a:schemeClr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8724859"/>
            <a:ext cx="8324850" cy="895391"/>
            <a:chOff x="0" y="0"/>
            <a:chExt cx="11099800" cy="1193854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 lang="en-US" sz="24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81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Anjana HS</a:t>
              </a:r>
            </a:p>
          </p:txBody>
        </p:sp>
      </p:grpSp>
      <p:pic>
        <p:nvPicPr>
          <p:cNvPr id="14" name="Picture 13" descr="Two cups of coffee on wooden table">
            <a:extLst>
              <a:ext uri="{FF2B5EF4-FFF2-40B4-BE49-F238E27FC236}">
                <a16:creationId xmlns:a16="http://schemas.microsoft.com/office/drawing/2014/main" id="{A417E9FE-0630-DBE4-767D-9C1548B4B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59" y="647700"/>
            <a:ext cx="7679341" cy="897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886" y="6666563"/>
            <a:ext cx="8323430" cy="2953687"/>
            <a:chOff x="0" y="0"/>
            <a:chExt cx="2192179" cy="7779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179" cy="777926"/>
            </a:xfrm>
            <a:custGeom>
              <a:avLst/>
              <a:gdLst/>
              <a:ahLst/>
              <a:cxnLst/>
              <a:rect l="l" t="t" r="r" b="b"/>
              <a:pathLst>
                <a:path w="2192179" h="777926">
                  <a:moveTo>
                    <a:pt x="37205" y="0"/>
                  </a:moveTo>
                  <a:lnTo>
                    <a:pt x="2154974" y="0"/>
                  </a:lnTo>
                  <a:cubicBezTo>
                    <a:pt x="2164841" y="0"/>
                    <a:pt x="2174305" y="3920"/>
                    <a:pt x="2181282" y="10897"/>
                  </a:cubicBezTo>
                  <a:cubicBezTo>
                    <a:pt x="2188259" y="17875"/>
                    <a:pt x="2192179" y="27338"/>
                    <a:pt x="2192179" y="37205"/>
                  </a:cubicBezTo>
                  <a:lnTo>
                    <a:pt x="2192179" y="740720"/>
                  </a:lnTo>
                  <a:cubicBezTo>
                    <a:pt x="2192179" y="750588"/>
                    <a:pt x="2188259" y="760051"/>
                    <a:pt x="2181282" y="767029"/>
                  </a:cubicBezTo>
                  <a:cubicBezTo>
                    <a:pt x="2174305" y="774006"/>
                    <a:pt x="2164841" y="777926"/>
                    <a:pt x="2154974" y="777926"/>
                  </a:cubicBezTo>
                  <a:lnTo>
                    <a:pt x="37205" y="777926"/>
                  </a:lnTo>
                  <a:cubicBezTo>
                    <a:pt x="16657" y="777926"/>
                    <a:pt x="0" y="761268"/>
                    <a:pt x="0" y="740720"/>
                  </a:cubicBezTo>
                  <a:lnTo>
                    <a:pt x="0" y="37205"/>
                  </a:lnTo>
                  <a:cubicBezTo>
                    <a:pt x="0" y="16657"/>
                    <a:pt x="16657" y="0"/>
                    <a:pt x="37205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2179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6563"/>
            <a:ext cx="8324850" cy="2953687"/>
            <a:chOff x="0" y="0"/>
            <a:chExt cx="2192553" cy="777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777926"/>
            </a:xfrm>
            <a:custGeom>
              <a:avLst/>
              <a:gdLst/>
              <a:ahLst/>
              <a:cxnLst/>
              <a:rect l="l" t="t" r="r" b="b"/>
              <a:pathLst>
                <a:path w="2192553" h="77792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40727"/>
                  </a:lnTo>
                  <a:cubicBezTo>
                    <a:pt x="2192553" y="750592"/>
                    <a:pt x="2188634" y="760054"/>
                    <a:pt x="2181658" y="767030"/>
                  </a:cubicBezTo>
                  <a:cubicBezTo>
                    <a:pt x="2174682" y="774007"/>
                    <a:pt x="2165220" y="777926"/>
                    <a:pt x="2155354" y="777926"/>
                  </a:cubicBezTo>
                  <a:lnTo>
                    <a:pt x="37199" y="777926"/>
                  </a:lnTo>
                  <a:cubicBezTo>
                    <a:pt x="27333" y="777926"/>
                    <a:pt x="17872" y="774007"/>
                    <a:pt x="10895" y="767030"/>
                  </a:cubicBezTo>
                  <a:cubicBezTo>
                    <a:pt x="3919" y="760054"/>
                    <a:pt x="0" y="750592"/>
                    <a:pt x="0" y="74072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255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7016" y="3352800"/>
            <a:ext cx="5448300" cy="2953687"/>
            <a:chOff x="0" y="0"/>
            <a:chExt cx="1434943" cy="7779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777926"/>
            </a:xfrm>
            <a:custGeom>
              <a:avLst/>
              <a:gdLst/>
              <a:ahLst/>
              <a:cxnLst/>
              <a:rect l="l" t="t" r="r" b="b"/>
              <a:pathLst>
                <a:path w="1434943" h="77792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31296" y="3352800"/>
            <a:ext cx="5448300" cy="2953687"/>
            <a:chOff x="0" y="0"/>
            <a:chExt cx="1434943" cy="7779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4943" cy="777926"/>
            </a:xfrm>
            <a:custGeom>
              <a:avLst/>
              <a:gdLst/>
              <a:ahLst/>
              <a:cxnLst/>
              <a:rect l="l" t="t" r="r" b="b"/>
              <a:pathLst>
                <a:path w="1434943" h="77792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3352800"/>
            <a:ext cx="5448300" cy="2953687"/>
            <a:chOff x="0" y="0"/>
            <a:chExt cx="1434943" cy="7779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34943" cy="777926"/>
            </a:xfrm>
            <a:custGeom>
              <a:avLst/>
              <a:gdLst/>
              <a:ahLst/>
              <a:cxnLst/>
              <a:rect l="l" t="t" r="r" b="b"/>
              <a:pathLst>
                <a:path w="1434943" h="77792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44109" y="3658195"/>
            <a:ext cx="4823291" cy="1967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This dashboard provides a comprehensive overview of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coffee shop sales performance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across products, categories, stores, and time periods.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1" y="7200900"/>
            <a:ext cx="7429500" cy="775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Category and store insights support better business decisions.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80346" y="3620437"/>
            <a:ext cx="4745694" cy="1570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highlights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average unit prices by product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helping compare pricing across different coffee and non-coffee items.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52103" y="7056136"/>
            <a:ext cx="7098766" cy="1172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Interactive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slicers and timeline filters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allow users to explore data dynamically by product category, store location, and date.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546346" y="3658195"/>
            <a:ext cx="4522454" cy="1570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monthly sales trend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visualizes how revenue changes over time, enabling the identification of peak and low sales periods.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105025" y="828675"/>
            <a:ext cx="14077950" cy="113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 dirty="0">
                <a:solidFill>
                  <a:schemeClr val="accent6">
                    <a:lumMod val="75000"/>
                  </a:schemeClr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Introduction</a:t>
            </a:r>
            <a:r>
              <a:rPr lang="en-US" sz="8499" u="none" strike="noStrike" spc="-169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</a:p>
        </p:txBody>
      </p:sp>
      <p:sp>
        <p:nvSpPr>
          <p:cNvPr id="28" name="Freeform 28"/>
          <p:cNvSpPr/>
          <p:nvPr/>
        </p:nvSpPr>
        <p:spPr>
          <a:xfrm flipH="1">
            <a:off x="16850868" y="692349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886" y="6666563"/>
            <a:ext cx="8323430" cy="2953687"/>
            <a:chOff x="0" y="0"/>
            <a:chExt cx="2192179" cy="7779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179" cy="777926"/>
            </a:xfrm>
            <a:custGeom>
              <a:avLst/>
              <a:gdLst/>
              <a:ahLst/>
              <a:cxnLst/>
              <a:rect l="l" t="t" r="r" b="b"/>
              <a:pathLst>
                <a:path w="2192179" h="777926">
                  <a:moveTo>
                    <a:pt x="37205" y="0"/>
                  </a:moveTo>
                  <a:lnTo>
                    <a:pt x="2154974" y="0"/>
                  </a:lnTo>
                  <a:cubicBezTo>
                    <a:pt x="2164841" y="0"/>
                    <a:pt x="2174305" y="3920"/>
                    <a:pt x="2181282" y="10897"/>
                  </a:cubicBezTo>
                  <a:cubicBezTo>
                    <a:pt x="2188259" y="17875"/>
                    <a:pt x="2192179" y="27338"/>
                    <a:pt x="2192179" y="37205"/>
                  </a:cubicBezTo>
                  <a:lnTo>
                    <a:pt x="2192179" y="740720"/>
                  </a:lnTo>
                  <a:cubicBezTo>
                    <a:pt x="2192179" y="750588"/>
                    <a:pt x="2188259" y="760051"/>
                    <a:pt x="2181282" y="767029"/>
                  </a:cubicBezTo>
                  <a:cubicBezTo>
                    <a:pt x="2174305" y="774006"/>
                    <a:pt x="2164841" y="777926"/>
                    <a:pt x="2154974" y="777926"/>
                  </a:cubicBezTo>
                  <a:lnTo>
                    <a:pt x="37205" y="777926"/>
                  </a:lnTo>
                  <a:cubicBezTo>
                    <a:pt x="16657" y="777926"/>
                    <a:pt x="0" y="761268"/>
                    <a:pt x="0" y="740720"/>
                  </a:cubicBezTo>
                  <a:lnTo>
                    <a:pt x="0" y="37205"/>
                  </a:lnTo>
                  <a:cubicBezTo>
                    <a:pt x="0" y="16657"/>
                    <a:pt x="16657" y="0"/>
                    <a:pt x="37205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2179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6563"/>
            <a:ext cx="8324850" cy="2953687"/>
            <a:chOff x="0" y="0"/>
            <a:chExt cx="2192553" cy="7779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777926"/>
            </a:xfrm>
            <a:custGeom>
              <a:avLst/>
              <a:gdLst/>
              <a:ahLst/>
              <a:cxnLst/>
              <a:rect l="l" t="t" r="r" b="b"/>
              <a:pathLst>
                <a:path w="2192553" h="77792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40727"/>
                  </a:lnTo>
                  <a:cubicBezTo>
                    <a:pt x="2192553" y="750592"/>
                    <a:pt x="2188634" y="760054"/>
                    <a:pt x="2181658" y="767030"/>
                  </a:cubicBezTo>
                  <a:cubicBezTo>
                    <a:pt x="2174682" y="774007"/>
                    <a:pt x="2165220" y="777926"/>
                    <a:pt x="2155354" y="777926"/>
                  </a:cubicBezTo>
                  <a:lnTo>
                    <a:pt x="37199" y="777926"/>
                  </a:lnTo>
                  <a:cubicBezTo>
                    <a:pt x="27333" y="777926"/>
                    <a:pt x="17872" y="774007"/>
                    <a:pt x="10895" y="767030"/>
                  </a:cubicBezTo>
                  <a:cubicBezTo>
                    <a:pt x="3919" y="760054"/>
                    <a:pt x="0" y="750592"/>
                    <a:pt x="0" y="74072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255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7016" y="3352800"/>
            <a:ext cx="5448300" cy="2953687"/>
            <a:chOff x="0" y="0"/>
            <a:chExt cx="1434943" cy="7779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777926"/>
            </a:xfrm>
            <a:custGeom>
              <a:avLst/>
              <a:gdLst/>
              <a:ahLst/>
              <a:cxnLst/>
              <a:rect l="l" t="t" r="r" b="b"/>
              <a:pathLst>
                <a:path w="1434943" h="77792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31296" y="3352800"/>
            <a:ext cx="5448300" cy="2953687"/>
            <a:chOff x="0" y="0"/>
            <a:chExt cx="1434943" cy="7779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4943" cy="777926"/>
            </a:xfrm>
            <a:custGeom>
              <a:avLst/>
              <a:gdLst/>
              <a:ahLst/>
              <a:cxnLst/>
              <a:rect l="l" t="t" r="r" b="b"/>
              <a:pathLst>
                <a:path w="1434943" h="77792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3352800"/>
            <a:ext cx="5448300" cy="2953687"/>
            <a:chOff x="0" y="0"/>
            <a:chExt cx="1434943" cy="7779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34943" cy="777926"/>
            </a:xfrm>
            <a:custGeom>
              <a:avLst/>
              <a:gdLst/>
              <a:ahLst/>
              <a:cxnLst/>
              <a:rect l="l" t="t" r="r" b="b"/>
              <a:pathLst>
                <a:path w="1434943" h="77792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395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44109" y="3763327"/>
            <a:ext cx="4594691" cy="1570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 analyze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overall sales performance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of the coffee shop across different products and categories.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1" y="7056136"/>
            <a:ext cx="7353300" cy="775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 evaluate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store-wise and category-wise quantity sold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assess individual store performance.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80346" y="3763327"/>
            <a:ext cx="4573454" cy="1172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 compare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average unit price of products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and understand pricing differences among items.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52103" y="7056136"/>
            <a:ext cx="7098766" cy="775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 enable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interactive data exploration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using slicers and timeline filters for better decision-making.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546346" y="3763327"/>
            <a:ext cx="4684379" cy="377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61"/>
              </a:lnSpc>
              <a:spcBef>
                <a:spcPct val="0"/>
              </a:spcBef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 identify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monthly sales trends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.</a:t>
            </a:r>
            <a:endParaRPr lang="en-US" sz="2354" u="none" strike="noStrike" spc="-47" dirty="0">
              <a:solidFill>
                <a:schemeClr val="accent6">
                  <a:lumMod val="40000"/>
                  <a:lumOff val="60000"/>
                </a:schemeClr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105025" y="828675"/>
            <a:ext cx="14077950" cy="113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 dirty="0">
                <a:solidFill>
                  <a:schemeClr val="accent6">
                    <a:lumMod val="75000"/>
                  </a:schemeClr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Objectives</a:t>
            </a:r>
          </a:p>
        </p:txBody>
      </p:sp>
      <p:sp>
        <p:nvSpPr>
          <p:cNvPr id="28" name="Freeform 28"/>
          <p:cNvSpPr/>
          <p:nvPr/>
        </p:nvSpPr>
        <p:spPr>
          <a:xfrm flipH="1">
            <a:off x="16850868" y="692349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878236"/>
            <a:ext cx="5657850" cy="3812439"/>
            <a:chOff x="0" y="-9525"/>
            <a:chExt cx="7264400" cy="1981414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7264400" cy="8161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>
                <a:lnSpc>
                  <a:spcPts val="3120"/>
                </a:lnSpc>
                <a:spcBef>
                  <a:spcPct val="0"/>
                </a:spcBef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The </a:t>
              </a:r>
              <a:r>
                <a: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Coffee category contributes the highest share of total revenue</a:t>
              </a:r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, making it the primary driver of overall sales compared to other product categories.</a:t>
              </a:r>
              <a:endParaRPr lang="en-US" sz="2400" u="none" strike="noStrike" spc="-48" dirty="0">
                <a:solidFill>
                  <a:schemeClr val="accent6">
                    <a:lumMod val="60000"/>
                    <a:lumOff val="40000"/>
                  </a:schemeClr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387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oper BT Medium"/>
                <a:ea typeface="Cooper BT Medium"/>
                <a:cs typeface="Cooper BT Medium"/>
                <a:sym typeface="Cooper BT Medium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136356"/>
            <a:ext cx="5448300" cy="2444349"/>
            <a:chOff x="0" y="-9525"/>
            <a:chExt cx="7264400" cy="3259132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7264400" cy="2093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>
                <a:lnSpc>
                  <a:spcPts val="3120"/>
                </a:lnSpc>
                <a:spcBef>
                  <a:spcPct val="0"/>
                </a:spcBef>
                <a:buFont typeface="Wingdings" panose="05000000000000000000" pitchFamily="2" charset="2"/>
                <a:buChar char="q"/>
              </a:pPr>
              <a:r>
                <a: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Monthly sales show a consistent upward trend</a:t>
              </a:r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, indicating increasing customer demand and improved sales performance over time</a:t>
              </a:r>
              <a:r>
                <a:rPr lang="en-US" sz="2400" dirty="0"/>
                <a:t>.</a:t>
              </a:r>
              <a:endParaRPr lang="en-US" sz="2400" u="none" strike="noStrike" spc="-48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3000" dirty="0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136356"/>
            <a:ext cx="5810250" cy="3343811"/>
            <a:chOff x="0" y="-9525"/>
            <a:chExt cx="7747000" cy="219709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699"/>
              <a:ext cx="7747000" cy="10318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3120"/>
                </a:lnSpc>
                <a:spcBef>
                  <a:spcPct val="0"/>
                </a:spcBef>
                <a:buFont typeface="Wingdings" panose="05000000000000000000" pitchFamily="2" charset="2"/>
                <a:buChar char="q"/>
              </a:pPr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Among the store locations, </a:t>
              </a:r>
              <a:r>
                <a: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Hell’s Kitchen and Lower Manhattan record higher quantities sold</a:t>
              </a:r>
              <a:r>
                <a: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, suggesting stronger customer traffic compared to other stores.</a:t>
              </a:r>
              <a:endParaRPr lang="en-US" sz="2400" u="none" strike="noStrike" spc="-48" dirty="0">
                <a:solidFill>
                  <a:schemeClr val="accent6">
                    <a:lumMod val="60000"/>
                    <a:lumOff val="40000"/>
                  </a:schemeClr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303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 algn="l">
                <a:lnSpc>
                  <a:spcPts val="3600"/>
                </a:lnSpc>
                <a:spcBef>
                  <a:spcPct val="0"/>
                </a:spcBef>
                <a:buFont typeface="Wingdings" panose="05000000000000000000" pitchFamily="2" charset="2"/>
                <a:buChar char="q"/>
              </a:pPr>
              <a:endParaRPr lang="en-US" sz="3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oper BT Medium"/>
                <a:ea typeface="Cooper BT Medium"/>
                <a:cs typeface="Cooper BT Medium"/>
                <a:sym typeface="Cooper BT Mediu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788194"/>
            <a:ext cx="12639675" cy="1652661"/>
            <a:chOff x="0" y="161925"/>
            <a:chExt cx="16852900" cy="220354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69440"/>
              <a:ext cx="16852900" cy="496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endParaRPr lang="en-US" sz="2400" b="1" u="none" strike="noStrike" spc="-48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61925"/>
              <a:ext cx="16852900" cy="1453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 dirty="0">
                  <a:solidFill>
                    <a:schemeClr val="accent6">
                      <a:lumMod val="75000"/>
                    </a:schemeClr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Key Findings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flipH="1">
            <a:off x="16850868" y="692349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596" y="0"/>
            <a:ext cx="8185404" cy="10287000"/>
            <a:chOff x="0" y="0"/>
            <a:chExt cx="215582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827" cy="2709333"/>
            </a:xfrm>
            <a:custGeom>
              <a:avLst/>
              <a:gdLst/>
              <a:ahLst/>
              <a:cxnLst/>
              <a:rect l="l" t="t" r="r" b="b"/>
              <a:pathLst>
                <a:path w="2155827" h="2709333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A31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44589" y="2171700"/>
            <a:ext cx="7315200" cy="1107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9600" u="none" strike="noStrike" spc="-169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708180" y="9066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9" name="Picture 18" descr="Chinese tea ceremony">
            <a:extLst>
              <a:ext uri="{FF2B5EF4-FFF2-40B4-BE49-F238E27FC236}">
                <a16:creationId xmlns:a16="http://schemas.microsoft.com/office/drawing/2014/main" id="{EB4108D2-D32B-4769-AC86-F208F747E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1" y="1562100"/>
            <a:ext cx="7543800" cy="815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236</Words>
  <Application>Microsoft Office PowerPoint</Application>
  <PresentationFormat>Custom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Cooper BT Light</vt:lpstr>
      <vt:lpstr>TT Interphases</vt:lpstr>
      <vt:lpstr>TT Interphases Bold</vt:lpstr>
      <vt:lpstr>Calibri</vt:lpstr>
      <vt:lpstr>Cooper BT Medium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Shop Sales Analysis Dashboard</dc:title>
  <dc:creator>Anjana H S</dc:creator>
  <cp:lastModifiedBy>Anjana H S</cp:lastModifiedBy>
  <cp:revision>2</cp:revision>
  <dcterms:created xsi:type="dcterms:W3CDTF">2006-08-16T00:00:00Z</dcterms:created>
  <dcterms:modified xsi:type="dcterms:W3CDTF">2025-12-19T04:54:10Z</dcterms:modified>
  <dc:identifier>DAG75IVOBHk</dc:identifier>
</cp:coreProperties>
</file>